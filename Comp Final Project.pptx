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title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F94EB2-3E69-4871-896A-A3D9E716EB0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4E398-1AF1-4E1A-B2A0-A277F6C01CB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6C8A98-107C-4F44-9EB0-B0FFC67FCBA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4B68EA-D248-4325-BB1F-AE37EDF0177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30A112-737C-460F-B977-7327D6D9A7F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584CA6-8303-4DA8-86D6-C13230A14F7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083CE7-8042-4316-94E9-90732DAFC52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10E486-BC69-4928-8D8A-A54BD7938F7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4F0BC-0331-42A2-BA9A-716D370EF48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766ACF-24D3-4FEA-9659-4EF669B3C3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FE8F9D-9281-4AFD-8888-909193994C1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64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65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4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5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07C657F-DF22-4D3C-94D8-0B1B3F2D1540}" type="slidenum"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75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76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b">
            <a:noAutofit/>
          </a:bodyPr>
          <a:p>
            <a:pPr indent="0" algn="ctr">
              <a:lnSpc>
                <a:spcPct val="75000"/>
              </a:lnSpc>
              <a:spcBef>
                <a:spcPts val="1199"/>
              </a:spcBef>
              <a:buNone/>
            </a:pPr>
            <a:r>
              <a:rPr lang="en-US" sz="60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37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38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FBDFE0F-394D-4598-8770-403A8C5B5CCF}" type="slidenum"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87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88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 3"/>
          <p:cNvSpPr/>
          <p:nvPr/>
        </p:nvSpPr>
        <p:spPr>
          <a:xfrm>
            <a:off x="4680" y="18360"/>
            <a:ext cx="1065600" cy="9414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2000" b="1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659240"/>
            <a:ext cx="9143640" cy="1173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ctr" anchorCtr="1">
            <a:norm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 cap="small">
                <a:solidFill>
                  <a:schemeClr val="dk1"/>
                </a:solidFill>
                <a:effectLst/>
                <a:uFillTx/>
                <a:latin typeface="Arial"/>
              </a:rPr>
              <a:t>Brief Title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39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ext Box 16"/>
          <p:cNvSpPr/>
          <p:nvPr/>
        </p:nvSpPr>
        <p:spPr>
          <a:xfrm>
            <a:off x="0" y="5565600"/>
            <a:ext cx="12191760" cy="350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0" bIns="0" anchor="t">
            <a:noAutofit/>
          </a:bodyPr>
          <a:p>
            <a:pPr algn="ctr" defTabSz="914400">
              <a:lnSpc>
                <a:spcPct val="70000"/>
              </a:lnSpc>
              <a:spcBef>
                <a:spcPts val="275"/>
              </a:spcBef>
              <a:tabLst>
                <a:tab algn="l" pos="0"/>
              </a:tabLst>
            </a:pPr>
            <a:endParaRPr lang="en-US" sz="1100" b="1" u="none" strike="noStrike">
              <a:solidFill>
                <a:srgbClr val="ffcc00"/>
              </a:solidFill>
              <a:effectLst/>
              <a:uFillTx/>
              <a:latin typeface="Book Antiqua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9350280" y="5916600"/>
            <a:ext cx="2836440" cy="49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Briefer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Contact info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11116800" y="5040"/>
            <a:ext cx="1074960" cy="9414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2000" b="1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Box 5"/>
          <p:cNvSpPr/>
          <p:nvPr/>
        </p:nvSpPr>
        <p:spPr>
          <a:xfrm>
            <a:off x="0" y="685800"/>
            <a:ext cx="12191760" cy="685440"/>
          </a:xfrm>
          <a:prstGeom prst="rect">
            <a:avLst/>
          </a:prstGeom>
          <a:solidFill>
            <a:schemeClr val="tx1"/>
          </a:solidFill>
          <a:ln w="0">
            <a:solidFill>
              <a:srgbClr val="0f204b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73080" bIns="0" anchor="t">
            <a:noAutofit/>
          </a:bodyPr>
          <a:p>
            <a:pPr algn="ctr" defTabSz="914400">
              <a:lnSpc>
                <a:spcPct val="70000"/>
              </a:lnSpc>
              <a:spcBef>
                <a:spcPts val="201"/>
              </a:spcBef>
              <a:tabLst>
                <a:tab algn="l" pos="0"/>
              </a:tabLst>
            </a:pPr>
            <a:endParaRPr lang="en-US" sz="800" b="0" i="1" u="none" strike="noStrike">
              <a:solidFill>
                <a:srgbClr val="ffcc00"/>
              </a:solidFill>
              <a:effectLst/>
              <a:uFillTx/>
              <a:latin typeface="Elephant"/>
            </a:endParaRPr>
          </a:p>
        </p:txBody>
      </p:sp>
      <p:sp>
        <p:nvSpPr>
          <p:cNvPr id="97" name="Line 6"/>
          <p:cNvSpPr/>
          <p:nvPr/>
        </p:nvSpPr>
        <p:spPr>
          <a:xfrm>
            <a:off x="4680" y="1295280"/>
            <a:ext cx="12187080" cy="360"/>
          </a:xfrm>
          <a:prstGeom prst="line">
            <a:avLst/>
          </a:prstGeom>
          <a:ln w="12700">
            <a:solidFill>
              <a:srgbClr val="fed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98" name="Line 7"/>
          <p:cNvSpPr/>
          <p:nvPr/>
        </p:nvSpPr>
        <p:spPr>
          <a:xfrm>
            <a:off x="0" y="752400"/>
            <a:ext cx="12191760" cy="360"/>
          </a:xfrm>
          <a:prstGeom prst="line">
            <a:avLst/>
          </a:prstGeom>
          <a:ln w="12700">
            <a:solidFill>
              <a:srgbClr val="fed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Box 11"/>
          <p:cNvSpPr/>
          <p:nvPr/>
        </p:nvSpPr>
        <p:spPr>
          <a:xfrm>
            <a:off x="242640" y="871920"/>
            <a:ext cx="11711160" cy="340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t">
            <a:noAutofit/>
          </a:bodyPr>
          <a:p>
            <a:pPr algn="ctr" defTabSz="914400">
              <a:lnSpc>
                <a:spcPct val="70000"/>
              </a:lnSpc>
              <a:spcBef>
                <a:spcPts val="451"/>
              </a:spcBef>
              <a:tabLst>
                <a:tab algn="l" pos="0"/>
              </a:tabLst>
            </a:pPr>
            <a:r>
              <a:rPr lang="en-US" sz="1800" b="1" i="1" u="none" strike="noStrike">
                <a:solidFill>
                  <a:srgbClr val="fed100"/>
                </a:solidFill>
                <a:effectLst/>
                <a:uFillTx/>
                <a:latin typeface="Arial"/>
              </a:rPr>
              <a:t>Operations Research Department, Naval Postgraduate School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0" y="4683240"/>
            <a:ext cx="3435120" cy="87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Distribution statement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18" descr="A blue and yellow shield with white text&#10;&#10;Description automatically generated"/>
          <p:cNvPicPr/>
          <p:nvPr/>
        </p:nvPicPr>
        <p:blipFill>
          <a:blip r:embed="rId4"/>
          <a:stretch/>
        </p:blipFill>
        <p:spPr>
          <a:xfrm>
            <a:off x="4920480" y="4482000"/>
            <a:ext cx="2355120" cy="16232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07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08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40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41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38AE6D-EAD1-40C0-9FC1-B195A40E75DA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260280" y="1274040"/>
            <a:ext cx="11669040" cy="501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19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20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ftr" idx="42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3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879856-32A1-4131-931C-BA96D921BE51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290160" y="1252440"/>
            <a:ext cx="5603760" cy="501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6294960" y="1252440"/>
            <a:ext cx="5603760" cy="501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33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44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5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f204b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7F30F5-C6C0-4A31-892A-6A43DFBE3539}" type="slidenum">
              <a:rPr lang="en-US" sz="900" b="0" u="none" strike="noStrike">
                <a:solidFill>
                  <a:srgbClr val="0f204b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146160" y="1243800"/>
            <a:ext cx="11897640" cy="511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44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45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3"/>
          <p:cNvSpPr/>
          <p:nvPr/>
        </p:nvSpPr>
        <p:spPr>
          <a:xfrm>
            <a:off x="4680" y="18360"/>
            <a:ext cx="1207800" cy="9414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2000" b="1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ftr" idx="46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 Box 16"/>
          <p:cNvSpPr/>
          <p:nvPr/>
        </p:nvSpPr>
        <p:spPr>
          <a:xfrm>
            <a:off x="0" y="5565600"/>
            <a:ext cx="12191760" cy="350640"/>
          </a:xfrm>
          <a:prstGeom prst="rect">
            <a:avLst/>
          </a:prstGeom>
          <a:solidFill>
            <a:srgbClr val="7011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0" bIns="0" anchor="t">
            <a:noAutofit/>
          </a:bodyPr>
          <a:p>
            <a:pPr algn="ctr" defTabSz="914400">
              <a:lnSpc>
                <a:spcPct val="70000"/>
              </a:lnSpc>
              <a:spcBef>
                <a:spcPts val="275"/>
              </a:spcBef>
              <a:tabLst>
                <a:tab algn="l" pos="0"/>
              </a:tabLst>
            </a:pPr>
            <a:endParaRPr lang="en-US" sz="1100" b="1" u="none" strike="noStrike">
              <a:solidFill>
                <a:srgbClr val="ffcc00"/>
              </a:solidFill>
              <a:effectLst/>
              <a:uFillTx/>
              <a:latin typeface="Book Antiqua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9350280" y="5916600"/>
            <a:ext cx="2836440" cy="56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Briefer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Contact info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5"/>
          <p:cNvSpPr/>
          <p:nvPr/>
        </p:nvSpPr>
        <p:spPr>
          <a:xfrm>
            <a:off x="11116800" y="5040"/>
            <a:ext cx="1074960" cy="9414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2000" b="1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Box 5"/>
          <p:cNvSpPr/>
          <p:nvPr/>
        </p:nvSpPr>
        <p:spPr>
          <a:xfrm>
            <a:off x="0" y="685800"/>
            <a:ext cx="12191760" cy="685440"/>
          </a:xfrm>
          <a:prstGeom prst="rect">
            <a:avLst/>
          </a:prstGeom>
          <a:solidFill>
            <a:srgbClr val="701125"/>
          </a:solidFill>
          <a:ln w="0">
            <a:solidFill>
              <a:srgbClr val="0f204b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73080" bIns="0" anchor="t">
            <a:noAutofit/>
          </a:bodyPr>
          <a:p>
            <a:pPr algn="ctr" defTabSz="914400">
              <a:lnSpc>
                <a:spcPct val="70000"/>
              </a:lnSpc>
              <a:spcBef>
                <a:spcPts val="201"/>
              </a:spcBef>
              <a:tabLst>
                <a:tab algn="l" pos="0"/>
              </a:tabLst>
            </a:pPr>
            <a:endParaRPr lang="en-US" sz="800" b="0" i="1" u="none" strike="noStrike">
              <a:solidFill>
                <a:srgbClr val="ffcc00"/>
              </a:solidFill>
              <a:effectLst/>
              <a:uFillTx/>
              <a:latin typeface="Elephant"/>
            </a:endParaRPr>
          </a:p>
        </p:txBody>
      </p:sp>
      <p:sp>
        <p:nvSpPr>
          <p:cNvPr id="153" name="Line 6"/>
          <p:cNvSpPr/>
          <p:nvPr/>
        </p:nvSpPr>
        <p:spPr>
          <a:xfrm>
            <a:off x="4680" y="1295280"/>
            <a:ext cx="12187080" cy="360"/>
          </a:xfrm>
          <a:prstGeom prst="line">
            <a:avLst/>
          </a:prstGeom>
          <a:ln w="12700">
            <a:solidFill>
              <a:srgbClr val="fed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54" name="Line 7"/>
          <p:cNvSpPr/>
          <p:nvPr/>
        </p:nvSpPr>
        <p:spPr>
          <a:xfrm>
            <a:off x="0" y="752400"/>
            <a:ext cx="12191760" cy="360"/>
          </a:xfrm>
          <a:prstGeom prst="line">
            <a:avLst/>
          </a:prstGeom>
          <a:ln w="12700">
            <a:solidFill>
              <a:srgbClr val="fed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Box 11"/>
          <p:cNvSpPr/>
          <p:nvPr/>
        </p:nvSpPr>
        <p:spPr>
          <a:xfrm>
            <a:off x="242640" y="871920"/>
            <a:ext cx="11711160" cy="340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t">
            <a:noAutofit/>
          </a:bodyPr>
          <a:p>
            <a:pPr algn="ctr" defTabSz="914400">
              <a:lnSpc>
                <a:spcPct val="70000"/>
              </a:lnSpc>
              <a:spcBef>
                <a:spcPts val="499"/>
              </a:spcBef>
              <a:tabLst>
                <a:tab algn="l" pos="0"/>
              </a:tabLst>
            </a:pPr>
            <a:r>
              <a:rPr lang="en-US" sz="2000" b="1" i="1" u="none" strike="noStrike">
                <a:solidFill>
                  <a:srgbClr val="fed402"/>
                </a:solidFill>
                <a:effectLst/>
                <a:uFillTx/>
                <a:latin typeface="Arial"/>
              </a:rPr>
              <a:t>U.S. Marine Corps at the Naval Postgraduate School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0" y="4683240"/>
            <a:ext cx="3435120" cy="87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Distribution statement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18" descr="A blue and yellow shield with white text&#10;&#10;Description automatically generated"/>
          <p:cNvPicPr/>
          <p:nvPr/>
        </p:nvPicPr>
        <p:blipFill>
          <a:blip r:embed="rId4"/>
          <a:stretch/>
        </p:blipFill>
        <p:spPr>
          <a:xfrm>
            <a:off x="3735720" y="4626000"/>
            <a:ext cx="2355120" cy="162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0" descr="A logo of a united states marine corps&#10;&#10;AI-generated content may be incorrect."/>
          <p:cNvPicPr/>
          <p:nvPr/>
        </p:nvPicPr>
        <p:blipFill>
          <a:blip r:embed="rId5"/>
          <a:srcRect l="17877" t="9058" r="18105" b="8636"/>
          <a:stretch/>
        </p:blipFill>
        <p:spPr>
          <a:xfrm>
            <a:off x="6098400" y="4582800"/>
            <a:ext cx="1720800" cy="17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1445400" y="1755720"/>
            <a:ext cx="9291240" cy="154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Brief Title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1445400" y="3555000"/>
            <a:ext cx="9291240" cy="77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Type and date of briefing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67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dt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48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9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AF9A76-3E87-4BA0-BD6C-B3DF64E99CD0}" type="slidenum"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Quad Chart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77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78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0" name="Straight Connector 8"/>
          <p:cNvCxnSpPr/>
          <p:nvPr/>
        </p:nvCxnSpPr>
        <p:spPr>
          <a:xfrm>
            <a:off x="6095880" y="1114920"/>
            <a:ext cx="360" cy="5313960"/>
          </a:xfrm>
          <a:prstGeom prst="straightConnector1">
            <a:avLst/>
          </a:prstGeom>
          <a:ln w="38100">
            <a:solidFill>
              <a:srgbClr val="0f204b"/>
            </a:solidFill>
            <a:round/>
          </a:ln>
        </p:spPr>
      </p:cxnSp>
      <p:cxnSp>
        <p:nvCxnSpPr>
          <p:cNvPr id="181" name="Straight Connector 10"/>
          <p:cNvCxnSpPr/>
          <p:nvPr/>
        </p:nvCxnSpPr>
        <p:spPr>
          <a:xfrm>
            <a:off x="296280" y="3809880"/>
            <a:ext cx="11599200" cy="360"/>
          </a:xfrm>
          <a:prstGeom prst="straightConnector1">
            <a:avLst/>
          </a:prstGeom>
          <a:ln w="38100">
            <a:solidFill>
              <a:srgbClr val="0f204b"/>
            </a:solidFill>
            <a:round/>
          </a:ln>
        </p:spPr>
      </p:cxnSp>
      <p:sp>
        <p:nvSpPr>
          <p:cNvPr id="182" name="PlaceHolder 1"/>
          <p:cNvSpPr>
            <a:spLocks noGrp="1"/>
          </p:cNvSpPr>
          <p:nvPr>
            <p:ph type="body"/>
          </p:nvPr>
        </p:nvSpPr>
        <p:spPr>
          <a:xfrm>
            <a:off x="297000" y="1057680"/>
            <a:ext cx="5621040" cy="27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297000" y="3880080"/>
            <a:ext cx="5621040" cy="252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6274440" y="1057680"/>
            <a:ext cx="5621040" cy="27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6274440" y="3889800"/>
            <a:ext cx="5621040" cy="252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title"/>
          </p:nvPr>
        </p:nvSpPr>
        <p:spPr>
          <a:xfrm>
            <a:off x="920880" y="195120"/>
            <a:ext cx="1033272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6"/>
          <p:cNvSpPr>
            <a:spLocks noGrp="1"/>
          </p:cNvSpPr>
          <p:nvPr>
            <p:ph type="ftr" idx="50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7"/>
          <p:cNvSpPr>
            <a:spLocks noGrp="1"/>
          </p:cNvSpPr>
          <p:nvPr>
            <p:ph type="sldNum" idx="51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AAB7B88-BBC4-475B-BB78-FB6F23220B83}" type="slidenum"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ad_Titles Chart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94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195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7" name="Straight Connector 8"/>
          <p:cNvCxnSpPr/>
          <p:nvPr/>
        </p:nvCxnSpPr>
        <p:spPr>
          <a:xfrm>
            <a:off x="6095880" y="1114920"/>
            <a:ext cx="360" cy="5313960"/>
          </a:xfrm>
          <a:prstGeom prst="straightConnector1">
            <a:avLst/>
          </a:prstGeom>
          <a:ln w="38100">
            <a:solidFill>
              <a:srgbClr val="0f204b"/>
            </a:solidFill>
            <a:round/>
          </a:ln>
        </p:spPr>
      </p:cxnSp>
      <p:cxnSp>
        <p:nvCxnSpPr>
          <p:cNvPr id="198" name="Straight Connector 10"/>
          <p:cNvCxnSpPr/>
          <p:nvPr/>
        </p:nvCxnSpPr>
        <p:spPr>
          <a:xfrm>
            <a:off x="296280" y="3809880"/>
            <a:ext cx="11599200" cy="360"/>
          </a:xfrm>
          <a:prstGeom prst="straightConnector1">
            <a:avLst/>
          </a:prstGeom>
          <a:ln w="38100">
            <a:solidFill>
              <a:srgbClr val="0f204b"/>
            </a:solidFill>
            <a:round/>
          </a:ln>
        </p:spPr>
      </p:cxnSp>
      <p:sp>
        <p:nvSpPr>
          <p:cNvPr id="199" name="PlaceHolder 1"/>
          <p:cNvSpPr>
            <a:spLocks noGrp="1"/>
          </p:cNvSpPr>
          <p:nvPr>
            <p:ph type="body"/>
          </p:nvPr>
        </p:nvSpPr>
        <p:spPr>
          <a:xfrm>
            <a:off x="297000" y="1057320"/>
            <a:ext cx="562104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297000" y="1590480"/>
            <a:ext cx="5621040" cy="21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297000" y="3862440"/>
            <a:ext cx="562104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297000" y="4410000"/>
            <a:ext cx="5621040" cy="199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6274440" y="1057320"/>
            <a:ext cx="562104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type="body"/>
          </p:nvPr>
        </p:nvSpPr>
        <p:spPr>
          <a:xfrm>
            <a:off x="6274440" y="1590480"/>
            <a:ext cx="5621040" cy="21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type="body"/>
          </p:nvPr>
        </p:nvSpPr>
        <p:spPr>
          <a:xfrm>
            <a:off x="6274440" y="3862440"/>
            <a:ext cx="562104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8"/>
          <p:cNvSpPr>
            <a:spLocks noGrp="1"/>
          </p:cNvSpPr>
          <p:nvPr>
            <p:ph type="body"/>
          </p:nvPr>
        </p:nvSpPr>
        <p:spPr>
          <a:xfrm>
            <a:off x="6274440" y="4419720"/>
            <a:ext cx="5621040" cy="199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9"/>
          <p:cNvSpPr>
            <a:spLocks noGrp="1"/>
          </p:cNvSpPr>
          <p:nvPr>
            <p:ph type="title"/>
          </p:nvPr>
        </p:nvSpPr>
        <p:spPr>
          <a:xfrm>
            <a:off x="920880" y="195120"/>
            <a:ext cx="1033272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0"/>
          <p:cNvSpPr>
            <a:spLocks noGrp="1"/>
          </p:cNvSpPr>
          <p:nvPr>
            <p:ph type="ftr" idx="52"/>
          </p:nvPr>
        </p:nvSpPr>
        <p:spPr>
          <a:xfrm>
            <a:off x="0" y="6619320"/>
            <a:ext cx="3860280" cy="22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11"/>
          <p:cNvSpPr>
            <a:spLocks noGrp="1"/>
          </p:cNvSpPr>
          <p:nvPr>
            <p:ph type="sldNum" idx="53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DACE79-5FBA-4ED6-A4EF-3B89F3A2E1A0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Box 14"/>
          <p:cNvSpPr/>
          <p:nvPr/>
        </p:nvSpPr>
        <p:spPr>
          <a:xfrm>
            <a:off x="2776680" y="0"/>
            <a:ext cx="667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Box 14"/>
          <p:cNvSpPr/>
          <p:nvPr/>
        </p:nvSpPr>
        <p:spPr>
          <a:xfrm>
            <a:off x="4017960" y="6627960"/>
            <a:ext cx="4153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10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UNCLASSIFIED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Line 7"/>
          <p:cNvSpPr/>
          <p:nvPr/>
        </p:nvSpPr>
        <p:spPr>
          <a:xfrm>
            <a:off x="0" y="990360"/>
            <a:ext cx="1201320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213" name="Picture 3" descr="A logo of a united states marine corps&#10;&#10;AI-generated content may be incorrect."/>
          <p:cNvPicPr/>
          <p:nvPr/>
        </p:nvPicPr>
        <p:blipFill>
          <a:blip r:embed="rId2"/>
          <a:srcRect l="17877" t="9058" r="18105" b="8636"/>
          <a:stretch/>
        </p:blipFill>
        <p:spPr>
          <a:xfrm>
            <a:off x="11269080" y="10080"/>
            <a:ext cx="922320" cy="9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Line 7"/>
          <p:cNvSpPr/>
          <p:nvPr/>
        </p:nvSpPr>
        <p:spPr>
          <a:xfrm flipV="1">
            <a:off x="152280" y="104148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215" name="Line 7"/>
          <p:cNvSpPr/>
          <p:nvPr/>
        </p:nvSpPr>
        <p:spPr>
          <a:xfrm>
            <a:off x="-1800" y="6482520"/>
            <a:ext cx="12012840" cy="0"/>
          </a:xfrm>
          <a:prstGeom prst="line">
            <a:avLst/>
          </a:prstGeom>
          <a:ln w="31750">
            <a:solidFill>
              <a:srgbClr val="7011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sp>
        <p:nvSpPr>
          <p:cNvPr id="216" name="Line 7"/>
          <p:cNvSpPr/>
          <p:nvPr/>
        </p:nvSpPr>
        <p:spPr>
          <a:xfrm flipV="1">
            <a:off x="150120" y="6533640"/>
            <a:ext cx="12039480" cy="360"/>
          </a:xfrm>
          <a:prstGeom prst="line">
            <a:avLst/>
          </a:prstGeom>
          <a:ln w="31750">
            <a:solidFill>
              <a:srgbClr val="0f20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500" b="0" u="none" strike="noStrike">
              <a:solidFill>
                <a:srgbClr val="0f204b"/>
              </a:solidFill>
              <a:effectLst/>
              <a:uFillTx/>
              <a:latin typeface="Arial"/>
            </a:endParaRPr>
          </a:p>
        </p:txBody>
      </p:sp>
      <p:pic>
        <p:nvPicPr>
          <p:cNvPr id="217" name="Picture 1" descr="A blue and yellow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80" y="93600"/>
            <a:ext cx="1084320" cy="7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963000" y="289548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t">
            <a:noAutofit/>
          </a:bodyPr>
          <a:p>
            <a:pPr indent="0" algn="ctr">
              <a:lnSpc>
                <a:spcPct val="75000"/>
              </a:lnSpc>
              <a:spcBef>
                <a:spcPts val="799"/>
              </a:spcBef>
              <a:buNone/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oldbearcrimes.streamlit.app/" TargetMode="External"/><Relationship Id="rId2" Type="http://schemas.openxmlformats.org/officeDocument/2006/relationships/hyperlink" Target="https://bearcrimes.streamlit.app/" TargetMode="External"/><Relationship Id="rId3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523880" y="1659240"/>
            <a:ext cx="9143640" cy="1603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91440" bIns="91440" anchor="ctr">
            <a:noAutofit/>
          </a:bodyPr>
          <a:p>
            <a:pPr indent="0" algn="ctr">
              <a:lnSpc>
                <a:spcPct val="75000"/>
              </a:lnSpc>
              <a:spcBef>
                <a:spcPts val="720"/>
              </a:spcBef>
              <a:buNone/>
            </a:pPr>
            <a:r>
              <a:rPr lang="en-US" sz="3600" b="1" u="none" strike="noStrike" cap="small">
                <a:solidFill>
                  <a:srgbClr val="000000"/>
                </a:solidFill>
                <a:effectLst/>
                <a:uFillTx/>
                <a:latin typeface="Arial"/>
              </a:rPr>
              <a:t>Exploring a correlation between sports teams and Violent crime:</a:t>
            </a:r>
            <a:br>
              <a:rPr sz="3600"/>
            </a:br>
            <a:r>
              <a:rPr lang="en-US" sz="3600" b="1" u="none" strike="noStrike" cap="small">
                <a:solidFill>
                  <a:srgbClr val="000000"/>
                </a:solidFill>
                <a:effectLst/>
                <a:uFillTx/>
                <a:latin typeface="Arial"/>
              </a:rPr>
              <a:t>Chicago and the Chicago bears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ubTitle"/>
          </p:nvPr>
        </p:nvSpPr>
        <p:spPr>
          <a:xfrm>
            <a:off x="1519200" y="3444480"/>
            <a:ext cx="9143640" cy="8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 Brief: 11 March 2026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10016280" y="4687200"/>
            <a:ext cx="2836440" cy="70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Maj Schwarzbach, Dario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Capt Franco, Katerina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Calibri"/>
              </a:rPr>
              <a:t>Capt Franco, Jackson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Calibri"/>
              </a:rPr>
              <a:t>NPS OR Department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0" y="4683240"/>
            <a:ext cx="3435120" cy="87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UNCLASSIFIED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sldNum" idx="54"/>
          </p:nvPr>
        </p:nvSpPr>
        <p:spPr>
          <a:xfrm>
            <a:off x="11849400" y="6630840"/>
            <a:ext cx="342360" cy="22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f204b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16735D-AB54-4E9D-9CF8-D44661A1AD14}" type="slidenum">
              <a:rPr lang="en-US" sz="900" b="0" u="none" strike="noStrike">
                <a:solidFill>
                  <a:srgbClr val="0f204b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icture 8" descr="God's Team: The Chicago Bears Have a Pope - Chicago Sports ..."/>
          <p:cNvSpPr/>
          <p:nvPr/>
        </p:nvSpPr>
        <p:spPr>
          <a:xfrm>
            <a:off x="197280" y="2095560"/>
            <a:ext cx="2178360" cy="2710080"/>
          </a:xfrm>
          <a:prstGeom prst="ellipse">
            <a:avLst/>
          </a:prstGeom>
          <a:blipFill rotWithShape="0">
            <a:blip r:embed="rId1"/>
            <a:srcRect/>
            <a:stretch/>
          </a:blipFill>
          <a:ln cap="rnd" w="190500">
            <a:solidFill>
              <a:srgbClr val="c8c6bd"/>
            </a:solidFill>
            <a:round/>
          </a:ln>
          <a:effectLst>
            <a:outerShdw algn="bl" blurRad="127080" rotWithShape="0">
              <a:srgbClr val="000000"/>
            </a:outerShdw>
          </a:effectLst>
          <a:scene3d>
            <a:camera fov="5400000" prst="perspectiveFront"/>
            <a:lightRig dir="t" rig="threePt">
              <a:rot lat="0" lon="0" rev="19200000"/>
            </a:lightRig>
          </a:scene3d>
          <a:sp3d extrusionH="25400">
            <a:bevelT prst="hardEdge" w="304800" h="152400"/>
            <a:extrusionClr>
              <a:srgbClr val="000000"/>
            </a:extrusion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Introduction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ldNum" idx="55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3BB1AF-8A90-4F6E-B82C-8FCFAA263E48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260280" y="1274040"/>
            <a:ext cx="11669040" cy="50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Analyze the data three ways: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General correlation between Bears success and violent crime rate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Sunday with a game compared to a Sunday with no game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Location of the crimes committed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: Rounded Corners 7"/>
          <p:cNvSpPr/>
          <p:nvPr/>
        </p:nvSpPr>
        <p:spPr>
          <a:xfrm>
            <a:off x="159120" y="1280520"/>
            <a:ext cx="11774160" cy="14194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000000"/>
            </a:solidFill>
            <a:round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anchor="ctr" anchorCtr="1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Are there any correlations between the Chicago Bears success rate and the violent crime rate in Chicago?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Data Acquisition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56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577A61-98CE-4078-84AE-DFCC24564187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260280" y="1274040"/>
            <a:ext cx="11669040" cy="50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2" name="Table 3"/>
          <p:cNvGraphicFramePr/>
          <p:nvPr/>
        </p:nvGraphicFramePr>
        <p:xfrm>
          <a:off x="488880" y="1207800"/>
          <a:ext cx="11216520" cy="5158080"/>
        </p:xfrm>
        <a:graphic>
          <a:graphicData uri="http://schemas.openxmlformats.org/drawingml/2006/table">
            <a:tbl>
              <a:tblPr/>
              <a:tblGrid>
                <a:gridCol w="2468880"/>
                <a:gridCol w="8747640"/>
              </a:tblGrid>
              <a:tr h="43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Data Source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Usage Reasoning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3366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City of Chicago API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Provided the most detailed CSV, for example, location, timestamps, and type of crime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Socrata API (SQL like queries)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Contained data from 2001 - present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847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FBI.gov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Only contained broad information about the crimes committed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f204b"/>
                          </a:solidFill>
                          <a:effectLst/>
                          <a:uFillTx/>
                          <a:latin typeface="Arial"/>
                        </a:rPr>
                        <a:t>Contained data from 1985 - present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847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Text-based Police Reports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Used to fill in gaps for information, text recognition required to synthesize information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Provided data for before 1985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847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profootballreference.com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Included incredibly robust NFL data, however, no API and required web scraping with Selenium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Contained data from the origin of the Chicago Bears to present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847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nflreadpy library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Returns data in pandas or polars dataframes with ease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Provides NFL schedules dating back to 1990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App Link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 idx="57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4DABD5-8445-41AF-BC2C-62B0E68CB01D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260280" y="1274040"/>
            <a:ext cx="11669040" cy="50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6" name="Content Placeholder 6"/>
          <p:cNvSpPr/>
          <p:nvPr/>
        </p:nvSpPr>
        <p:spPr>
          <a:xfrm>
            <a:off x="412560" y="1426320"/>
            <a:ext cx="11669040" cy="50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Streamlit Links: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4000" b="0" u="sng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  <a:hlinkClick r:id="rId1"/>
              </a:rPr>
              <a:t>https://oldbearcrimes.streamlit.app/</a:t>
            </a: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 </a:t>
            </a:r>
            <a:br>
              <a:rPr sz="4000"/>
            </a:br>
            <a:br>
              <a:rPr sz="4000"/>
            </a:br>
            <a:r>
              <a:rPr lang="en-US" sz="4000" b="0" u="sng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  <a:hlinkClick r:id="rId2"/>
              </a:rPr>
              <a:t>https://bearcrimes.streamlit.app/</a:t>
            </a: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 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rm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Future Work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58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2CD22114-ACE1-46EE-B6EA-037FAEDEC265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290160" y="1252440"/>
            <a:ext cx="5603760" cy="50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Define "success of the Chicago Bears" with a new metric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Analyze a different sports team in Chicago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New fan base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Sport in a different season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Analyze a different location and/or sport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Cultural differences across cities or countries may affect reactions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Capture a wide range of sports and fan base patterns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3" descr="Pope Leo XIV presented with 'Da Pope' Chicago Bears t-shirt at Cathedral of  Albano near Castel Gondalfo outside Rome - ABC7 Chicago"/>
          <p:cNvPicPr/>
          <p:nvPr/>
        </p:nvPicPr>
        <p:blipFill>
          <a:blip r:embed="rId1"/>
          <a:srcRect l="33973" t="0" r="34049" b="0"/>
          <a:stretch/>
        </p:blipFill>
        <p:spPr>
          <a:xfrm>
            <a:off x="7200720" y="1252440"/>
            <a:ext cx="4304520" cy="501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118520" y="201960"/>
            <a:ext cx="9952560" cy="74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 algn="ctr">
              <a:lnSpc>
                <a:spcPct val="75000"/>
              </a:lnSpc>
              <a:spcBef>
                <a:spcPts val="641"/>
              </a:spcBef>
              <a:buNone/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Questions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ldNum" idx="59"/>
          </p:nvPr>
        </p:nvSpPr>
        <p:spPr>
          <a:xfrm>
            <a:off x="9345240" y="6619320"/>
            <a:ext cx="284436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134F02-DA08-47A4-A772-7C4E25048A0D}" type="slidenum">
              <a:rPr lang="en-US" sz="9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2136960" y="1756080"/>
            <a:ext cx="8017200" cy="39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5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Contact Information: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Maj Dario Schwarzbach: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dario.schwarzbach.gy@nps.edu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Capt Katerina Franco: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katerina.franco@nps.edu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Capt Jackson Franco: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jackson.franco@nps.edu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PS_Marine_template">
  <a:themeElements>
    <a:clrScheme name="OAD Logo Colors">
      <a:dk1>
        <a:srgbClr val="0f204b"/>
      </a:dk1>
      <a:lt1>
        <a:srgbClr val="ffffff"/>
      </a:lt1>
      <a:dk2>
        <a:srgbClr val="000000"/>
      </a:dk2>
      <a:lt2>
        <a:srgbClr val="c3c8c8"/>
      </a:lt2>
      <a:accent1>
        <a:srgbClr val="0f204b"/>
      </a:accent1>
      <a:accent2>
        <a:srgbClr val="a30000"/>
      </a:accent2>
      <a:accent3>
        <a:srgbClr val="fed100"/>
      </a:accent3>
      <a:accent4>
        <a:srgbClr val="5e6767"/>
      </a:accent4>
      <a:accent5>
        <a:srgbClr val="510000"/>
      </a:accent5>
      <a:accent6>
        <a:srgbClr val="d7a900"/>
      </a:accent6>
      <a:hlink>
        <a:srgbClr val="a30000"/>
      </a:hlink>
      <a:folHlink>
        <a:srgbClr val="0f204b"/>
      </a:folHlink>
    </a:clrScheme>
    <a:fontScheme name="OAD_Presentation1_LR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2026-03-03T22:45:30Z</dcterms:created>
  <dc:creator/>
  <dc:description/>
  <dc:language>en-US</dc:language>
  <cp:lastModifiedBy/>
  <dcterms:modified xsi:type="dcterms:W3CDTF">2026-03-10T12:29:39Z</dcterms:modified>
  <cp:revision>370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